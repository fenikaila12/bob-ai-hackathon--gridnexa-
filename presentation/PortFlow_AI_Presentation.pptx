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B"/>
          </a:solidFill>
          <a:ln>
            <a:solidFill>
              <a:srgbClr val="0C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40080"/>
            <a:ext cx="658368" cy="658368"/>
          </a:xfrm>
          <a:prstGeom prst="roundRect">
            <a:avLst/>
          </a:prstGeom>
          <a:solidFill>
            <a:srgbClr val="1B9F89"/>
          </a:solidFill>
          <a:ln>
            <a:solidFill>
              <a:srgbClr val="1B9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7132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DFC6"/>
                </a:solidFill>
                <a:latin typeface="Aptos"/>
              </a:rPr>
              <a:t>PORTFLOW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0972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Container Congestion Predictor</a:t>
            </a:r>
            <a:br/>
            <a:r>
              <a:rPr sz="3000" b="1">
                <a:solidFill>
                  <a:srgbClr val="FFFFFF"/>
                </a:solidFill>
                <a:latin typeface="Aptos"/>
              </a:rPr>
              <a:t>&amp; Port Operations Optimiser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06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DDC"/>
                </a:solidFill>
                <a:latin typeface="Aptos"/>
              </a:rPr>
              <a:t>L1 — Logistics &amp; Ports  |  University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3337560"/>
            <a:ext cx="5303520" cy="566928"/>
          </a:xfrm>
          <a:prstGeom prst="roundRect">
            <a:avLst/>
          </a:prstGeom>
          <a:solidFill>
            <a:srgbClr val="162A42"/>
          </a:solidFill>
          <a:ln>
            <a:solidFill>
              <a:srgbClr val="16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351129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Front-end prototype using sample operational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80060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Presented by: Your Name</a:t>
            </a:r>
            <a:br/>
            <a:r>
              <a:rPr sz="1400" b="0">
                <a:solidFill>
                  <a:srgbClr val="FFFFFF"/>
                </a:solidFill>
                <a:latin typeface="Aptos"/>
              </a:rPr>
              <a:t>Course / Semester: __________</a:t>
            </a:r>
            <a:br/>
            <a:r>
              <a:rPr sz="1400" b="0">
                <a:solidFill>
                  <a:srgbClr val="FFFFFF"/>
                </a:solidFill>
                <a:latin typeface="Aptos"/>
              </a:rPr>
              <a:t>College: 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88C"/>
                </a:solidFill>
                <a:latin typeface="Aptos"/>
              </a:rPr>
              <a:t>PortFlow AI  •  L1 Logistics &amp; 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788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B40"/>
                </a:solidFill>
                <a:latin typeface="Aptos"/>
              </a:rPr>
              <a:t>The Port Operations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88C"/>
                </a:solidFill>
                <a:latin typeface="Aptos"/>
              </a:rPr>
              <a:t>Why congestion and manual resource planning create operational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B40"/>
                </a:solidFill>
                <a:latin typeface="Aptos"/>
              </a:rPr>
              <a:t>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Aptos"/>
              </a:rPr>
              <a:t>Many vessels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88C"/>
                </a:solidFill>
                <a:latin typeface="Aptos"/>
              </a:rPr>
              <a:t>Port operators may need to coordinate hundreds of vessel movements.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201168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B40"/>
                </a:solidFill>
                <a:latin typeface="Aptos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Aptos"/>
              </a:rPr>
              <a:t>Manual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88C"/>
                </a:solidFill>
                <a:latin typeface="Aptos"/>
              </a:rPr>
              <a:t>Berths, cranes and yard space can be allocated using spreadsheets.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01168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B40"/>
                </a:solidFill>
                <a:latin typeface="Aptos"/>
              </a:rP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Aptos"/>
              </a:rPr>
              <a:t>Reactive congestion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461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88C"/>
                </a:solidFill>
                <a:latin typeface="Aptos"/>
              </a:rPr>
              <a:t>Hotspots may be identified only after queues become serious.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19" y="201168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999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B40"/>
                </a:solidFill>
                <a:latin typeface="Aptos"/>
              </a:rPr>
              <a:t>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B40"/>
                </a:solidFill>
                <a:latin typeface="Aptos"/>
              </a:rPr>
              <a:t>Late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9" y="32461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88C"/>
                </a:solidFill>
                <a:latin typeface="Aptos"/>
              </a:rPr>
              <a:t>Alternate routing decisions may come too late.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9F89"/>
                </a:solidFill>
                <a:latin typeface="Aptos"/>
              </a:rPr>
              <a:t>Goal: move from reactive monitoring toward earlier, clearer operational decisions.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88C"/>
                </a:solidFill>
                <a:latin typeface="Aptos"/>
              </a:rPr>
              <a:t>PortFlow AI  •  L1 Logistics &amp; 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788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B40"/>
                </a:solidFill>
                <a:latin typeface="Aptos"/>
              </a:rPr>
              <a:t>Introducing PortFlow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88C"/>
                </a:solidFill>
                <a:latin typeface="Aptos"/>
              </a:rPr>
              <a:t>One operational dashboard for monitoring and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391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9F8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208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Vessel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134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88C"/>
                </a:solidFill>
                <a:latin typeface="Aptos"/>
              </a:rPr>
              <a:t>Search, filter, add, edit and remove sample vessel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20391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9F89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208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Congestion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134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88C"/>
                </a:solidFill>
                <a:latin typeface="Aptos"/>
              </a:rPr>
              <a:t>Classify terminal risk and highlight potential hotspots.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10896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2735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9F89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552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Resource Allocation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47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88C"/>
                </a:solidFill>
                <a:latin typeface="Aptos"/>
              </a:rPr>
              <a:t>Visualise sample berth and crane assignments.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0896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2735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9F89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552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Route Optimiser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547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88C"/>
                </a:solidFill>
                <a:latin typeface="Aptos"/>
              </a:rPr>
              <a:t>Compare direct, staged and alternate-terminal strategies.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34340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5079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9F89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4897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72-Hour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88C"/>
                </a:solidFill>
                <a:latin typeface="Aptos"/>
              </a:rPr>
              <a:t>Generate a rolling operational plan for supervisors.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34340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5079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9F89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97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7823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788C"/>
                </a:solidFill>
                <a:latin typeface="Aptos"/>
              </a:rPr>
              <a:t>Review KPIs, utilisation trends and simulated decisions.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88C"/>
                </a:solidFill>
                <a:latin typeface="Aptos"/>
              </a:rPr>
              <a:t>PortFlow AI  •  L1 Logistics &amp; 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788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B40"/>
                </a:solidFill>
                <a:latin typeface="Aptos"/>
              </a:rPr>
              <a:t>What the project aims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C2B40"/>
                </a:solidFill>
                <a:latin typeface="Aptos"/>
              </a:rPr>
              <a:t>• Monitor vessel schedules and operational status.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C2B40"/>
                </a:solidFill>
                <a:latin typeface="Aptos"/>
              </a:rPr>
              <a:t>• Identify potential congestion hotspots early.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C2B40"/>
                </a:solidFill>
                <a:latin typeface="Aptos"/>
              </a:rPr>
              <a:t>• Show berth and crane utilisation.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C2B40"/>
                </a:solidFill>
                <a:latin typeface="Aptos"/>
              </a:rPr>
              <a:t>• Support simple berth and crane allocation decisions.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C2B40"/>
                </a:solidFill>
                <a:latin typeface="Aptos"/>
              </a:rPr>
              <a:t>• Recommend alternate routing strategies.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C2B40"/>
                </a:solidFill>
                <a:latin typeface="Aptos"/>
              </a:rPr>
              <a:t>• Generate a structured 72-hour operations plan.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C2B40"/>
                </a:solidFill>
                <a:latin typeface="Aptos"/>
              </a:rPr>
              <a:t>• Present the information through a clear, easy-to-use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874519"/>
            <a:ext cx="3383280" cy="3520440"/>
          </a:xfrm>
          <a:prstGeom prst="roundRect">
            <a:avLst/>
          </a:prstGeom>
          <a:solidFill>
            <a:srgbClr val="0C1A2B"/>
          </a:solidFill>
          <a:ln>
            <a:solidFill>
              <a:srgbClr val="0C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3DFC6"/>
                </a:solidFill>
                <a:latin typeface="Aptos"/>
              </a:rPr>
              <a:t>OPERATIONAL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697480"/>
            <a:ext cx="2651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Vessels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↓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Risk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↓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Resources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↓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Recommendations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↓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72-hour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88C"/>
                </a:solidFill>
                <a:latin typeface="Aptos"/>
              </a:rPr>
              <a:t>PortFlow AI  •  L1 Logistics &amp; 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788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B40"/>
                </a:solidFill>
                <a:latin typeface="Aptos"/>
              </a:rPr>
              <a:t>Simple front-end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88C"/>
                </a:solidFill>
                <a:latin typeface="Aptos"/>
              </a:rPr>
              <a:t>Designed to be understandable, lightweight and easy to demonstrate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9F89"/>
                </a:solidFill>
                <a:latin typeface="Aptos"/>
              </a:rP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Page structure &amp; dashboard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9F89"/>
                </a:solidFill>
                <a:latin typeface="Aptos"/>
              </a:rPr>
              <a:t>CSS3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042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Responsive layout and visual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27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9F89"/>
                </a:solidFill>
                <a:latin typeface="Aptos"/>
              </a:rPr>
              <a:t>Vanilla 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387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Interactions, filters and simulated decision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27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9F89"/>
                </a:solidFill>
                <a:latin typeface="Aptos"/>
              </a:rPr>
              <a:t>Browser localStorage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387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Keeps edited sample vessel data after refresh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62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9F89"/>
                </a:solidFill>
                <a:latin typeface="Aptos"/>
              </a:rPr>
              <a:t>No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731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No server or database required for this prototype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462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9F89"/>
                </a:solidFill>
                <a:latin typeface="Aptos"/>
              </a:rPr>
              <a:t>No External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731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Runs with sample operational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623560"/>
            <a:ext cx="10698480" cy="475488"/>
          </a:xfrm>
          <a:prstGeom prst="roundRect">
            <a:avLst/>
          </a:prstGeom>
          <a:solidFill>
            <a:srgbClr val="E8F7F3"/>
          </a:solidFill>
          <a:ln>
            <a:solidFill>
              <a:srgbClr val="E8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69864"/>
            <a:ext cx="10241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47764"/>
                </a:solidFill>
                <a:latin typeface="Aptos"/>
              </a:rPr>
              <a:t>Prototype only — no claim of live port data or a trained machine-learning model.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88C"/>
                </a:solidFill>
                <a:latin typeface="Aptos"/>
              </a:rPr>
              <a:t>PortFlow AI  •  L1 Logistics &amp; 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788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B40"/>
                </a:solidFill>
                <a:latin typeface="Aptos"/>
              </a:rPr>
              <a:t>How the system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88C"/>
                </a:solidFill>
                <a:latin typeface="Aptos"/>
              </a:rPr>
              <a:t>A simple flow from operational input to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4688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85292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B40"/>
                </a:solidFill>
                <a:latin typeface="Aptos"/>
              </a:rPr>
              <a:t>Vessel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2706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9F8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2286000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1176" y="24688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85292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B40"/>
                </a:solidFill>
                <a:latin typeface="Aptos"/>
              </a:rP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6" y="2706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9F8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286000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4688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85292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B40"/>
                </a:solidFill>
                <a:latin typeface="Aptos"/>
              </a:rPr>
              <a:t>Congestion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4" y="2706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9F8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2286000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4688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85292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B40"/>
                </a:solidFill>
                <a:latin typeface="Aptos"/>
              </a:rPr>
              <a:t>Resource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2706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9F89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2" y="2286000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4688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85292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B40"/>
                </a:solidFill>
                <a:latin typeface="Aptos"/>
              </a:rPr>
              <a:t>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706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9F89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2286000"/>
            <a:ext cx="16276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05288" y="24688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8" y="285292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B40"/>
                </a:solidFill>
                <a:latin typeface="Aptos"/>
              </a:rPr>
              <a:t>72-Hour Plan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4160520"/>
            <a:ext cx="8549640" cy="685800"/>
          </a:xfrm>
          <a:prstGeom prst="roundRect">
            <a:avLst/>
          </a:prstGeom>
          <a:solidFill>
            <a:srgbClr val="0C1A2B"/>
          </a:solidFill>
          <a:ln>
            <a:solidFill>
              <a:srgbClr val="0C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4361688"/>
            <a:ext cx="8549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Dashboard +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1663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88C"/>
                </a:solidFill>
                <a:latin typeface="Aptos"/>
              </a:rPr>
              <a:t>The prototype keeps the decision process visible and explainable.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88C"/>
                </a:solidFill>
                <a:latin typeface="Aptos"/>
              </a:rPr>
              <a:t>PortFlow AI  •  L1 Logistics &amp; 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788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B40"/>
                </a:solidFill>
                <a:latin typeface="Aptos"/>
              </a:rPr>
              <a:t>Main modules in the working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1051560"/>
          </a:xfrm>
          <a:prstGeom prst="rect">
            <a:avLst/>
          </a:prstGeom>
          <a:solidFill>
            <a:srgbClr val="1B9F89"/>
          </a:solidFill>
          <a:ln>
            <a:solidFill>
              <a:srgbClr val="1B9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Vessel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Search • Filter • Add • Edit • Delete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73152" cy="1051560"/>
          </a:xfrm>
          <a:prstGeom prst="rect">
            <a:avLst/>
          </a:prstGeom>
          <a:solidFill>
            <a:srgbClr val="1B9F89"/>
          </a:solidFill>
          <a:ln>
            <a:solidFill>
              <a:srgbClr val="1B9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933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Congestion 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5915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Terminal risk • Queue • Yard • Cranes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27248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27248"/>
            <a:ext cx="73152" cy="1051560"/>
          </a:xfrm>
          <a:prstGeom prst="rect">
            <a:avLst/>
          </a:prstGeom>
          <a:solidFill>
            <a:srgbClr val="1B9F89"/>
          </a:solidFill>
          <a:ln>
            <a:solidFill>
              <a:srgbClr val="1B9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Berth &amp; Crane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5760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Sample assignments • Priority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127248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127248"/>
            <a:ext cx="73152" cy="1051560"/>
          </a:xfrm>
          <a:prstGeom prst="rect">
            <a:avLst/>
          </a:prstGeom>
          <a:solidFill>
            <a:srgbClr val="1B9F89"/>
          </a:solidFill>
          <a:ln>
            <a:solidFill>
              <a:srgbClr val="1B9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2918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Route Optimiser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65760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Direct • Staged • Alternate terminal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25696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25696"/>
            <a:ext cx="73152" cy="1051560"/>
          </a:xfrm>
          <a:prstGeom prst="rect">
            <a:avLst/>
          </a:prstGeom>
          <a:solidFill>
            <a:srgbClr val="1B9F89"/>
          </a:solidFill>
          <a:ln>
            <a:solidFill>
              <a:srgbClr val="1B9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59028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72-Hour Operations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5604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Six operational windows • Suggested 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425696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25696"/>
            <a:ext cx="73152" cy="1051560"/>
          </a:xfrm>
          <a:prstGeom prst="rect">
            <a:avLst/>
          </a:prstGeom>
          <a:solidFill>
            <a:srgbClr val="1B9F89"/>
          </a:solidFill>
          <a:ln>
            <a:solidFill>
              <a:srgbClr val="1B9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59028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B40"/>
                </a:solidFill>
                <a:latin typeface="Aptos"/>
              </a:rPr>
              <a:t>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95604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Utilisation • Queue reduction • Decision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88C"/>
                </a:solidFill>
                <a:latin typeface="Aptos"/>
              </a:rPr>
              <a:t>PortFlow AI  •  L1 Logistics &amp; 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788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B40"/>
                </a:solidFill>
                <a:latin typeface="Aptos"/>
              </a:rPr>
              <a:t>Route Optimiser &amp; 72-Hour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9F89"/>
                </a:solidFill>
                <a:latin typeface="Aptos"/>
              </a:rPr>
              <a:t>ROUTE OPTIMISER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461772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85292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B40"/>
                </a:solidFill>
                <a:latin typeface="Aptos"/>
              </a:rPr>
              <a:t>Route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529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B40"/>
                </a:solidFill>
                <a:latin typeface="Aptos"/>
              </a:rPr>
              <a:t>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852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88C"/>
                </a:solidFill>
                <a:latin typeface="Aptos"/>
              </a:rPr>
              <a:t>Shortest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8529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06960"/>
                </a:solidFill>
                <a:latin typeface="Aptos"/>
              </a:rPr>
              <a:t>Higher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10712"/>
            <a:ext cx="4617720" cy="530352"/>
          </a:xfrm>
          <a:prstGeom prst="roundRect">
            <a:avLst/>
          </a:prstGeom>
          <a:solidFill>
            <a:srgbClr val="E8F7F3"/>
          </a:solidFill>
          <a:ln>
            <a:solidFill>
              <a:srgbClr val="E8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5661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B40"/>
                </a:solidFill>
                <a:latin typeface="Aptos"/>
              </a:rPr>
              <a:t>Route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661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B40"/>
                </a:solidFill>
                <a:latin typeface="Aptos"/>
              </a:rPr>
              <a:t>Staged Arrival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566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88C"/>
                </a:solidFill>
                <a:latin typeface="Aptos"/>
              </a:rPr>
              <a:t>+25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6616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47764"/>
                </a:solidFill>
                <a:latin typeface="Aptos"/>
              </a:rPr>
              <a:t>Lower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23944"/>
            <a:ext cx="461772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27939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B40"/>
                </a:solidFill>
                <a:latin typeface="Aptos"/>
              </a:rPr>
              <a:t>Route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7939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B40"/>
                </a:solidFill>
                <a:latin typeface="Aptos"/>
              </a:rPr>
              <a:t>Alternate 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2793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88C"/>
                </a:solidFill>
                <a:latin typeface="Aptos"/>
              </a:rPr>
              <a:t>+40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2793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47764"/>
                </a:solidFill>
                <a:latin typeface="Aptos"/>
              </a:rPr>
              <a:t>Lowest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82880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1488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9F89"/>
                </a:solidFill>
                <a:latin typeface="Aptos"/>
              </a:rPr>
              <a:t>72-HOUR OPERATIONS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974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B40"/>
                </a:solidFill>
                <a:latin typeface="Aptos"/>
              </a:rPr>
              <a:t>06–14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697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Stabilise Central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1012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B40"/>
                </a:solidFill>
                <a:latin typeface="Aptos"/>
              </a:rPr>
              <a:t>14–22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310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Balance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922776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B40"/>
                </a:solidFill>
                <a:latin typeface="Aptos"/>
              </a:rPr>
              <a:t>22–06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9227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Recover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535424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B40"/>
                </a:solidFill>
                <a:latin typeface="Aptos"/>
              </a:rPr>
              <a:t>Next 24h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5354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Rolling 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89204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88C"/>
                </a:solidFill>
                <a:latin typeface="Aptos"/>
              </a:rPr>
              <a:t>The plan turns sample conditions into supervisor-friendly time windows.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88C"/>
                </a:solidFill>
                <a:latin typeface="Aptos"/>
              </a:rPr>
              <a:t>PortFlow AI  •  L1 Logistics &amp; 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788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B40"/>
                </a:solidFill>
                <a:latin typeface="Aptos"/>
              </a:rPr>
              <a:t>Working Prototype —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88C"/>
                </a:solidFill>
                <a:latin typeface="Aptos"/>
              </a:rPr>
              <a:t>Replace the four placeholders with screenshots from dhruv.zip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B40"/>
                </a:solidFill>
                <a:latin typeface="Aptos"/>
              </a:rPr>
              <a:t>01 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915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88C"/>
                </a:solidFill>
                <a:latin typeface="Aptos"/>
              </a:rPr>
              <a:t>Overall operational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19DAC"/>
                </a:solidFill>
                <a:latin typeface="Aptos"/>
              </a:rPr>
              <a:t>INSERT SCREENSHOT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B40"/>
                </a:solidFill>
                <a:latin typeface="Aptos"/>
              </a:rPr>
              <a:t>02  Vessel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5915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88C"/>
                </a:solidFill>
                <a:latin typeface="Aptos"/>
              </a:rPr>
              <a:t>Vessel schedule &amp;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88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19DAC"/>
                </a:solidFill>
                <a:latin typeface="Aptos"/>
              </a:rPr>
              <a:t>INSERT SCREENSHOT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05079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B40"/>
                </a:solidFill>
                <a:latin typeface="Aptos"/>
              </a:rPr>
              <a:t>03  Congestion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41655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88C"/>
                </a:solidFill>
                <a:latin typeface="Aptos"/>
              </a:rPr>
              <a:t>Terminal risk &amp; hotspots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46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19DAC"/>
                </a:solidFill>
                <a:latin typeface="Aptos"/>
              </a:rPr>
              <a:t>INSERT SCREENSHOT 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8862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05079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B40"/>
                </a:solidFill>
                <a:latin typeface="Aptos"/>
              </a:rPr>
              <a:t>04  72-Hour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1655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88C"/>
                </a:solidFill>
                <a:latin typeface="Aptos"/>
              </a:rPr>
              <a:t>Supervisor operations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846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19DAC"/>
                </a:solidFill>
                <a:latin typeface="Aptos"/>
              </a:rPr>
              <a:t>INSERT SCREENSHOT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88C"/>
                </a:solidFill>
                <a:latin typeface="Aptos"/>
              </a:rPr>
              <a:t>PortFlow AI  •  L1 Logistics &amp; 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788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9F89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B40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9F89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C2B40"/>
                </a:solidFill>
                <a:latin typeface="Aptos"/>
              </a:rPr>
              <a:t>• Centralised operational dashboard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C2B40"/>
                </a:solidFill>
                <a:latin typeface="Aptos"/>
              </a:rPr>
              <a:t>• Vessel and resource monitoring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C2B40"/>
                </a:solidFill>
                <a:latin typeface="Aptos"/>
              </a:rPr>
              <a:t>• Congestion-risk visualisation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C2B40"/>
                </a:solidFill>
                <a:latin typeface="Aptos"/>
              </a:rPr>
              <a:t>• Routing and allocation support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C2B40"/>
                </a:solidFill>
                <a:latin typeface="Aptos"/>
              </a:rPr>
              <a:t>• 72-hour operational planning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257800" cy="3611880"/>
          </a:xfrm>
          <a:prstGeom prst="roundRect">
            <a:avLst/>
          </a:prstGeom>
          <a:solidFill>
            <a:srgbClr val="0C1A2B"/>
          </a:solidFill>
          <a:ln>
            <a:solidFill>
              <a:srgbClr val="0C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3DFC6"/>
                </a:solidFill>
                <a:latin typeface="Aptos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06040"/>
            <a:ext cx="4480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Aptos"/>
              </a:rPr>
              <a:t>• Real-time vessel tracking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Aptos"/>
              </a:rPr>
              <a:t>• Live port-data/API integration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Aptos"/>
              </a:rPr>
              <a:t>• Machine-learning congestion prediction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Aptos"/>
              </a:rPr>
              <a:t>• Real database and historical data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Aptos"/>
              </a:rPr>
              <a:t>• Weather and traffic integration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Aptos"/>
              </a:rPr>
              <a:t>• Advanced optimisation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9F89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C2B40"/>
                </a:solidFill>
                <a:latin typeface="Aptos"/>
              </a:rPr>
              <a:t>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88C"/>
                </a:solidFill>
                <a:latin typeface="Aptos"/>
              </a:rPr>
              <a:t>PortFlow AI  •  L1 Logistics &amp; 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788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